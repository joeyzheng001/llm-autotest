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6459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</a:rPr>
              <a:t>LLM-AutoTest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BFDBFE"/>
                </a:solidFill>
              </a:rPr>
              <a:t>基于大语言模型的端到端自动化测试平台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4748B"/>
                </a:solidFill>
              </a:rPr>
              <a:t>从需求文档到回归沉淀 · 9 节点智能测试流水线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663440"/>
            <a:ext cx="2011680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</a:rPr>
              <a:t>内容来源：repo-wiki 项目知识库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背景与痛点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7919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目标与业务价值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393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系统总体架构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9943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9 节点核心流水线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5955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可靠性机制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7190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373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Code Review 三视图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51460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67919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69748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用例生成与自动执行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747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63931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6576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Schema 与错误码体系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43484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59943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177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质量门禁与部署运维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55955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57784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路线图与总结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传统接口测试在多仓库、无统一接口文档背景下面临的挑战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7276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</a:rPr>
              <a:t>用例编写耗时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9743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测试人员需逐模块阅读源码理解接口，重复劳动多、效率低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7276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</a:rPr>
              <a:t>维护成本高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38528"/>
            <a:ext cx="49743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代码演进频繁，手工用例难以及时同步，回归成本持续攀升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40156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</a:rPr>
              <a:t>覆盖率不足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67328"/>
            <a:ext cx="49743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受限于人力与时间，关键路径与异常分支覆盖不充分，质量风险外溢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40156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</a:rPr>
              <a:t>资产沉淀弱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767328"/>
            <a:ext cx="49743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缺乏历史用例与缺陷数据复用，每次回归“从零开始”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破局思路：以 AI 技术赋能自动化测试 —— 用 LLM 打通“从需求文档到测试用例”的端到端自动化链路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目标与业务价值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跑通即交付：以可度量、可复用的测试流水线验证可行性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5997408000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95997371424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需求解析</a:t>
            </a:r>
            <a:r>
              <a:rPr sz="1300">
                <a:solidFill>
                  <a:srgbClr val="64748B"/>
                </a:solidFill>
              </a:rPr>
              <a:t>  Word / Markdown / Excel 三格式解析为结构化需求条目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5998066368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95998029792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接口逆向还原</a:t>
            </a:r>
            <a:r>
              <a:rPr sz="1300">
                <a:solidFill>
                  <a:srgbClr val="64748B"/>
                </a:solidFill>
              </a:rPr>
              <a:t>  源码扫描 + LLM 还原接口定义（路径/方法/出入参/协议）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5998724736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29599868816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Code Review 三视图</a:t>
            </a:r>
            <a:r>
              <a:rPr sz="1300">
                <a:solidFill>
                  <a:srgbClr val="64748B"/>
                </a:solidFill>
              </a:rPr>
              <a:t>  需求-代码映射表、风险清单、遗漏功能清单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95999383104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5999346528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用例生成与执行</a:t>
            </a:r>
            <a:r>
              <a:rPr sz="1300">
                <a:solidFill>
                  <a:srgbClr val="64748B"/>
                </a:solidFill>
              </a:rPr>
              <a:t>  每接口 ≥3 条用例（正常/边界/异常），一键全量执行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296000041472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296000004895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缺陷闭环与回归</a:t>
            </a:r>
            <a:r>
              <a:rPr sz="1300">
                <a:solidFill>
                  <a:srgbClr val="64748B"/>
                </a:solidFill>
              </a:rPr>
              <a:t>  失败用例转缺陷记录，支持复测与回归沉淀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41732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1527048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</a:rPr>
              <a:t>降低测试成本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92808"/>
            <a:ext cx="45171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E293B"/>
                </a:solidFill>
              </a:rPr>
              <a:t>减少人工编写与维护用例工作量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624328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2734056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</a:rPr>
              <a:t>提高测试质量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099816"/>
            <a:ext cx="45171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E293B"/>
                </a:solidFill>
              </a:rPr>
              <a:t>系统化覆盖正常/边界/异常场景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831336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3941064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</a:rPr>
              <a:t>加速交付周期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4306824"/>
            <a:ext cx="45171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E293B"/>
                </a:solidFill>
              </a:rPr>
              <a:t>一键触发全量执行，缩短反馈闭环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5038344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5148072"/>
            <a:ext cx="4517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</a:rPr>
              <a:t>可度量基线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5513832"/>
            <a:ext cx="45171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E293B"/>
                </a:solidFill>
              </a:rPr>
              <a:t>9 节点口径量化自动化率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多容器化微服务 · 前后端分离 · REST 交互 · 共享产物卷持久化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83464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63EB"/>
                </a:solidFill>
              </a:rPr>
              <a:t>frontend · Vue 3 +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</a:rPr>
              <a:t>任务配置 · 流水线监控 · 三视图 · 报告/度量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554480"/>
            <a:ext cx="283464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1682496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63EB"/>
                </a:solidFill>
              </a:rPr>
              <a:t>orchestrator · Python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3774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</a:rPr>
              <a:t>9 节点编排 · 断点续跑 · 产物管理 ·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554480"/>
            <a:ext cx="283464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682496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63EB"/>
                </a:solidFill>
              </a:rPr>
              <a:t>java-parser · Java 21 + Spring Boot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774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</a:rPr>
              <a:t>Java 多仓库静态扫描 · 接口候选提取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584448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</a:rPr>
              <a:t>test-executor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950208"/>
            <a:ext cx="25054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</a:rPr>
              <a:t>Python pytest 执行器 · 加载脚本 · 无人值守执行 · 断言/环境失败二态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4747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3584448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</a:rPr>
              <a:t>GLM-5.3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950208"/>
            <a:ext cx="25054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</a:rPr>
              <a:t>外部 LLM 推理服务 · 需求解析 / 接口还原 / 用例生成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4747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3584448"/>
            <a:ext cx="2505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</a:rPr>
              <a:t>schemas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950208"/>
            <a:ext cx="25054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</a:rPr>
              <a:t>结构化产物 JSON Schema · 单一事实来源 · LLM 输出强校验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9235440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57800"/>
            <a:ext cx="8869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</a:rPr>
              <a:t>共享产物卷 /data/llm-autotest：所有节点产物与 state.json 持久化于此，容器重启后可恢复；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E293B"/>
                </a:solidFill>
              </a:rPr>
              <a:t>Docker Compose 编排：健康检查、依赖顺序、独立扩缩容与故障隔离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技术栈选型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Python 主体 + Java 解析服务的混合微服务模式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82296" cy="1143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007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</a:rPr>
              <a:t>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579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Python 3.11 · FastAPI · httpx · pydantic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82296" cy="11430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</a:rPr>
              <a:t>java-parser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95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Java 21 · Spring Boot 3 · JavaParser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82296" cy="1143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</a:rPr>
              <a:t>test-executor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011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Python 3.11 · pytest · 断言二态判定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82296" cy="11430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007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579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Vue 3 · Vite · Nginx · CSS 设计令牌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926080"/>
            <a:ext cx="82296" cy="1143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</a:rPr>
              <a:t>LLM 基线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295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GLM-5.3（冻结基线，禁止引入其他模型）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976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297680"/>
            <a:ext cx="82296" cy="1143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4439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</a:rPr>
              <a:t>基础设施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011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Docker Compose · 共享产物卷 · 环境变量配置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67602368000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67602331424"/>
            <a:ext cx="10744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设计原则：</a:t>
            </a:r>
            <a:r>
              <a:rPr sz="1200">
                <a:solidFill>
                  <a:srgbClr val="64748B"/>
                </a:solidFill>
              </a:rPr>
              <a:t>  全部配置来自环境变量，避免硬编码；API key 只进环境变量绝不落仓库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核心流水线：9 节点固定口径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节点顺序由 pipeline.py 固化，禁止随意增删，确保度量口径一致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1. 需求解析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requirement_items.json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002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6002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647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2. 源码扫描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134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code_inventory.json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002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6002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7647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3. 接口还原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3134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interfaces.json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649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4. 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review_mapping.json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2004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32004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649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5. 用例生成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9136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testcases.json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2004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32004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3649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6. 自动执行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9136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execution.json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006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8006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651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7. 测试报告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138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test_report.md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8006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63440" y="48006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9651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8. 缺陷清单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5138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defects.json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80060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95360" y="480060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9651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9. 回归沉淀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5138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563EB"/>
                </a:solidFill>
              </a:rPr>
              <a:t>regression_index.json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</a:rPr>
              <a:t>每节点完成必须满足产物判据（JSON 产物须通过 Schema 校验，Markdown 须存在且非空），否则拒绝标记完成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节点四态与自动化率度量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如实分列 · 分母固定为 9 · 程序化汇总不经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51760" cy="7315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59669"/>
                </a:solidFill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产物落盘且通过 Schema 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39" y="1554480"/>
            <a:ext cx="2651760" cy="7315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19" y="171907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563EB"/>
                </a:solidFill>
              </a:rPr>
              <a:t>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20848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运行中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25146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节点正在执行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2651760" cy="73152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1907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64748B"/>
                </a:solidFill>
              </a:rPr>
              <a:t>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848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待运行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等待前序节点完成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59" y="1554480"/>
            <a:ext cx="2651760" cy="7315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9" y="171907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97706"/>
                </a:solidFill>
              </a:rPr>
              <a:t>manual_intervention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208483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人工介入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25146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降级节点：记录原因，流程继续推进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74720"/>
            <a:ext cx="10972800" cy="17373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93B"/>
                </a:solidFill>
              </a:rPr>
              <a:t>自动化率 = completed 节点数 / 9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93B"/>
                </a:solidFill>
              </a:rPr>
              <a:t>· 降级节点按 manual_intervention 计入，分母固定 9 不缩减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93B"/>
                </a:solidFill>
              </a:rPr>
              <a:t>· 无实测时返回 None，前端以 “—” 展示，避免误导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93B"/>
                </a:solidFill>
              </a:rPr>
              <a:t>· 前端总览页展示 job 列表、9 节点状态、自动化率与降级提示，数值全部来自后端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可靠性机制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以“产物是唯一事实”为核心的状态管理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37803776000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37803739424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50">
                <a:solidFill>
                  <a:srgbClr val="1E293B"/>
                </a:solidFill>
              </a:rPr>
              <a:t>断点续跑</a:t>
            </a:r>
            <a:r>
              <a:rPr sz="1350">
                <a:solidFill>
                  <a:srgbClr val="64748B"/>
                </a:solidFill>
              </a:rPr>
              <a:t>  open_job 读取 state.json 后 reconcile 对账：产物合规 → completed；状态 completed 但产物失效 → 回退 pending 并记录错误，resumed 计数留审计痕迹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37804745264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37804708688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50">
                <a:solidFill>
                  <a:srgbClr val="1E293B"/>
                </a:solidFill>
              </a:rPr>
              <a:t>跳序防护</a:t>
            </a:r>
            <a:r>
              <a:rPr sz="1350">
                <a:solidFill>
                  <a:srgbClr val="64748B"/>
                </a:solidFill>
              </a:rPr>
              <a:t>  check_runnable：前序节点必须全部 completed 或降级，否则抛出 X-ORCH-02，防止乱序执行导致产物不完整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37805714528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37805677952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50">
                <a:solidFill>
                  <a:srgbClr val="1E293B"/>
                </a:solidFill>
              </a:rPr>
              <a:t>原子落盘</a:t>
            </a:r>
            <a:r>
              <a:rPr sz="1350">
                <a:solidFill>
                  <a:srgbClr val="64748B"/>
                </a:solidFill>
              </a:rPr>
              <a:t>  state.json 与产物写入均采用 tmp + replace 原子替换，避免进程中断导致的部分写入损坏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37806683792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337806647216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50">
                <a:solidFill>
                  <a:srgbClr val="1E293B"/>
                </a:solidFill>
              </a:rPr>
              <a:t>降级策略</a:t>
            </a:r>
            <a:r>
              <a:rPr sz="1350">
                <a:solidFill>
                  <a:srgbClr val="64748B"/>
                </a:solidFill>
              </a:rPr>
              <a:t>  节点失败可降级为 manual_intervention 并记录原因，流程继续推进；人工修复后可显式重新触发该节点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37807653056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33780761648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50">
                <a:solidFill>
                  <a:srgbClr val="1E293B"/>
                </a:solidFill>
              </a:rPr>
              <a:t>写权排他</a:t>
            </a:r>
            <a:r>
              <a:rPr sz="1350">
                <a:solidFill>
                  <a:srgbClr val="64748B"/>
                </a:solidFill>
              </a:rPr>
              <a:t>  orchestrator 与 test-executor 产物写权限隔离，避免并发写冲突；统一错误结构 PipelineError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Code Review 三视图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基于需求与接口/代码映射，一次生成三种视图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需求-代码映射表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29968"/>
            <a:ext cx="328269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每条需求映射到具体接口与代码位置，四态标注：implemented / partial / missing / undetermined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64208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风险清单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29968"/>
            <a:ext cx="328269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partial 与 undetermined 自动进入风险清单；高风险行为执行确定性证据门槛检查，无直接证据不得判为 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1664208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遗漏功能清单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029968"/>
            <a:ext cx="328269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未被需求覆盖的变更接口、带风险状态的变更接口、无接口命中的业务文件、删除文件 —— 由基线 diff 派生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1E293B"/>
                </a:solidFill>
              </a:rPr>
              <a:t>设计原则：LLM 只做四态映射与接口关联，其余全部程序派生 ——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E293B"/>
                </a:solidFill>
              </a:rPr>
              <a:t>· risks / missing_features / change_scope 由程序从映射表与 diff 计算，不经过 LLM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E293B"/>
                </a:solidFill>
              </a:rPr>
              <a:t>· 防虚构校验：覆盖率必须 100%，虚构接口 ID 直接拒绝（X-LLM-02）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E293B"/>
                </a:solidFill>
              </a:rPr>
              <a:t>· 代码片段脱敏后仅作 LLM 上下文，不写入结果产物，避免源码扩散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用例生成与自动执行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从接口与需求自动生成可执行测试脚本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37803776000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37803739424"/>
            <a:ext cx="6172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生成口径</a:t>
            </a:r>
            <a:r>
              <a:rPr sz="1300">
                <a:solidFill>
                  <a:srgbClr val="64748B"/>
                </a:solidFill>
              </a:rPr>
              <a:t>  LLM 基于接口清单与需求生成用例，每接口 ≥3 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37804489232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37804452656"/>
            <a:ext cx="6172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三层覆盖</a:t>
            </a:r>
            <a:r>
              <a:rPr sz="1300">
                <a:solidFill>
                  <a:srgbClr val="64748B"/>
                </a:solidFill>
              </a:rPr>
              <a:t>  正常场景 / 边界场景 / 异常场景 各 ≥1 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37805202464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37805165888"/>
            <a:ext cx="6172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分批生成</a:t>
            </a:r>
            <a:r>
              <a:rPr sz="1300">
                <a:solidFill>
                  <a:srgbClr val="64748B"/>
                </a:solidFill>
              </a:rPr>
              <a:t>  大输入分块策略，控制单次 token 消耗与超时风险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37805915696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337805879120"/>
            <a:ext cx="6172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一键执行</a:t>
            </a:r>
            <a:r>
              <a:rPr sz="1300">
                <a:solidFill>
                  <a:srgbClr val="64748B"/>
                </a:solidFill>
              </a:rPr>
              <a:t>  test-executor 无人值守加载脚本并全量执行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37806628928"/>
            <a:ext cx="82296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337806592352"/>
            <a:ext cx="6172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293B"/>
                </a:solidFill>
              </a:rPr>
              <a:t>二态判定</a:t>
            </a:r>
            <a:r>
              <a:rPr sz="1300">
                <a:solidFill>
                  <a:srgbClr val="64748B"/>
                </a:solidFill>
              </a:rPr>
              <a:t>  失败区分 assertion（断言失败）与 environment（环境失败）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463040"/>
            <a:ext cx="4297680" cy="35661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1572768"/>
            <a:ext cx="3968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</a:rPr>
              <a:t>执行结果模型 ExecutionSummary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1938528"/>
            <a:ext cx="3968496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total                总用例数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passed              通过数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failed_assertion     断言失败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failed_environment  环境失败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每用例含 duration_ms / timeout /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</a:rPr>
              <a:t>timestamp，支撑 P95/P99 耗时分析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2563EB"/>
                </a:solidFill>
              </a:rPr>
              <a:t>失败用例自动转化为缺陷记录（defects.json），支持复测与回归脚本沉淀 —— 形成“生成→执行→缺陷→回归”的完整闭环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Schema 单一事实来源 · 统一错误码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LLM 输出必须通过 Schema 校验后方可进入下游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4754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7276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schemas 目录 · 数据契约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97433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E293B"/>
                </a:solidFill>
              </a:rPr>
              <a:t>· 集中管理所有结构化产物 JSON Schema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E293B"/>
                </a:solidFill>
              </a:rPr>
              <a:t>· 每个 Schema 含 schema_version，结构变更必须升版本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E293B"/>
                </a:solidFill>
              </a:rPr>
              <a:t>· pydantic 模型与 Schema 一一对应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E293B"/>
                </a:solidFill>
              </a:rPr>
              <a:t>· 横切约定：ID 命名 / 时间戳格式 / 协议枚举 / 错误结构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E293B"/>
                </a:solidFill>
              </a:rPr>
              <a:t>· 完成判据：JSON 过校验，Markdown 存在非空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1E293B"/>
                </a:solidFill>
              </a:rPr>
              <a:t>· 校验失败拒绝落盘，避免污染产物卷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93B"/>
                </a:solidFill>
              </a:rPr>
              <a:t>统一错误码体系（禁止表外错误码）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73152" cy="603504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939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7706"/>
                </a:solidFill>
              </a:rPr>
              <a:t>X-LLM-01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1226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E293B"/>
                </a:solidFill>
              </a:rPr>
              <a:t>LLM 调用超时/网络失败（可重试）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24912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724912"/>
            <a:ext cx="73152" cy="60350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0720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C2626"/>
                </a:solidFill>
              </a:rPr>
              <a:t>X-LLM-02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82549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E293B"/>
                </a:solidFill>
              </a:rPr>
              <a:t>LLM 输出未过 Schema 校验（人工介入）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38144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438144"/>
            <a:ext cx="73152" cy="60350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C2626"/>
                </a:solidFill>
              </a:rPr>
              <a:t>X-LLM-03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53872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E293B"/>
                </a:solidFill>
              </a:rPr>
              <a:t>Prompt 缺失/元信息不合规（配置错误）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51376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151376"/>
            <a:ext cx="73152" cy="60350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336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C2626"/>
                </a:solidFill>
              </a:rPr>
              <a:t>X-ORCH-01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519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E293B"/>
                </a:solidFill>
              </a:rPr>
              <a:t>产物校验失败或 state.json 不合规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64608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864608"/>
            <a:ext cx="73152" cy="603504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94690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7706"/>
                </a:solidFill>
              </a:rPr>
              <a:t>X-ORCH-02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965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E293B"/>
                </a:solidFill>
              </a:rPr>
              <a:t>断点续跑跳序请求（前序未完成）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577840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5577840"/>
            <a:ext cx="73152" cy="603504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6601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7706"/>
                </a:solidFill>
              </a:rPr>
              <a:t>X-ORCH-03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67842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E293B"/>
                </a:solidFill>
              </a:rPr>
              <a:t>java-parser 服务不可达/通信失败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质量门禁 · 部署运维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</a:rPr>
              <a:t>分层测试保障代码质量，容器化部署保障隔离与弹性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2468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7276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四层质量门禁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97433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Lint → Unit → Integration → E2E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核心逻辑覆盖率 ≥ 70%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LLM 客户端一律 Mock，测试不依赖真实调用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多语言依赖锁定：uv + pnpm + Maven 三栈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CI 门禁：ruff / mypy / pytest 全绿方可合入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22452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部署形态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590288"/>
            <a:ext cx="497433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Docker Compose 编排三核心容器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  + test-executor / mock-services 按需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健康检查 + 依赖顺序 + 共享产物卷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· 已部署云服务器验证端到端链路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120640" cy="4754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72768"/>
            <a:ext cx="4791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</a:rPr>
              <a:t>故障排查速查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38528"/>
            <a:ext cx="479145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跳序请求 → 查前序节点状态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产物缺失 → is_node_completed 核对产物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LLM 输出不可解析 → 检查 Prompt 与参数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解析服务通信失败 → /health + 网络连通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LLM 超时 → LLM_TIMEOUT_S 调整 + 限流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自动化率偏低 → 定位人工介入节点瓶颈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定位入口：state.json 的 nodes / degraded /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93B"/>
                </a:solidFill>
              </a:rPr>
              <a:t>error 字段 + archive 归档目录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93B"/>
                </a:solidFill>
              </a:rPr>
              <a:t>路线图与总结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611880" cy="7315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</a:rPr>
              <a:t>短期（首版）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0312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</a:rPr>
              <a:t>最小可用闭环 + 首个自动化率实测值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</a:rPr>
              <a:t>“跑通即交付”验证可行性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3611880" cy="7315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</a:rPr>
              <a:t>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10312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</a:rPr>
              <a:t>扩展协议覆盖 · 增强 LLM 稳定性与提示工程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</a:rPr>
              <a:t>完善前端可视化与度量看板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63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463040"/>
            <a:ext cx="3611880" cy="7315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</a:rPr>
              <a:t>长期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10312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</a:rPr>
              <a:t>企业级智能测试中台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93B"/>
                </a:solidFill>
              </a:rPr>
              <a:t>多项目接入 · 增量更新 · 跨团队协作治理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10972800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</a:rPr>
              <a:t>总结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</a:rPr>
              <a:t>LLM-AutoTest 以 AI 重构接口测试流程：需求输入 → 接口还原 → 用例生成 → 执行 → 报告 → 缺陷闭环 → 回归沉淀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</a:rPr>
              <a:t>显著降低测试成本 · 提升测试质量 · 加速交付周期，并以 9 节点口径建立可度量的自动化基线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</a:rPr>
              <a:t>为后续规模化投入提供决策依据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